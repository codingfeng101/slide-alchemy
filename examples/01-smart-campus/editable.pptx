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6688" y="1166078"/>
            <a:ext cx="561473" cy="65591"/>
          </a:xfrm>
          <a:prstGeom prst="rect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0019" y="1807421"/>
            <a:ext cx="4185530" cy="1719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0440" y="1894877"/>
            <a:ext cx="350009" cy="349823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9196" y="2040637"/>
            <a:ext cx="1283368" cy="1282686"/>
          </a:xfrm>
          <a:prstGeom prst="ellipse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95904" y="2069789"/>
            <a:ext cx="14583" cy="1202518"/>
          </a:xfrm>
          <a:prstGeom prst="rect">
            <a:avLst/>
          </a:prstGeom>
          <a:solidFill>
            <a:srgbClr val="C4D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94870" y="2587236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94870" y="2893332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94870" y="3199428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89722" y="1807421"/>
            <a:ext cx="3675100" cy="1719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0143" y="1894877"/>
            <a:ext cx="350009" cy="349823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68899" y="2040637"/>
            <a:ext cx="1283368" cy="1282686"/>
          </a:xfrm>
          <a:prstGeom prst="ellipse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81435" y="2069789"/>
            <a:ext cx="14583" cy="1202518"/>
          </a:xfrm>
          <a:prstGeom prst="rect">
            <a:avLst/>
          </a:prstGeom>
          <a:solidFill>
            <a:srgbClr val="C4D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58526" y="2587236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8526" y="2893332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8526" y="3199428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0019" y="3665859"/>
            <a:ext cx="4185530" cy="16908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0440" y="3753315"/>
            <a:ext cx="350009" cy="349823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9196" y="3899075"/>
            <a:ext cx="1283368" cy="1282686"/>
          </a:xfrm>
          <a:prstGeom prst="ellipse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5904" y="3928227"/>
            <a:ext cx="14583" cy="1202518"/>
          </a:xfrm>
          <a:prstGeom prst="rect">
            <a:avLst/>
          </a:prstGeom>
          <a:solidFill>
            <a:srgbClr val="C4D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94870" y="4445674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94870" y="4751770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94870" y="5057866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9722" y="3665859"/>
            <a:ext cx="3675100" cy="16908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50143" y="3753315"/>
            <a:ext cx="350009" cy="349823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68899" y="3899075"/>
            <a:ext cx="1283368" cy="1282686"/>
          </a:xfrm>
          <a:prstGeom prst="ellipse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81435" y="3928227"/>
            <a:ext cx="14583" cy="1202518"/>
          </a:xfrm>
          <a:prstGeom prst="rect">
            <a:avLst/>
          </a:prstGeom>
          <a:solidFill>
            <a:srgbClr val="C4D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58526" y="4445674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58526" y="4751770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58526" y="5057866"/>
            <a:ext cx="72918" cy="72879"/>
          </a:xfrm>
          <a:prstGeom prst="ellipse">
            <a:avLst/>
          </a:prstGeom>
          <a:solidFill>
            <a:srgbClr val="12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7310" y="5517009"/>
            <a:ext cx="8341894" cy="787103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9D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93779" y="5626329"/>
            <a:ext cx="583349" cy="583039"/>
          </a:xfrm>
          <a:prstGeom prst="ellipse">
            <a:avLst/>
          </a:prstGeom>
          <a:solidFill>
            <a:srgbClr val="1368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083444" y="5626329"/>
            <a:ext cx="583349" cy="583039"/>
          </a:xfrm>
          <a:prstGeom prst="ellipse">
            <a:avLst/>
          </a:prstGeom>
          <a:solidFill>
            <a:srgbClr val="1368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5607" y="5626329"/>
            <a:ext cx="583349" cy="583039"/>
          </a:xfrm>
          <a:prstGeom prst="ellipse">
            <a:avLst/>
          </a:prstGeom>
          <a:solidFill>
            <a:srgbClr val="1368E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lue_icon_database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31" y="2106229"/>
            <a:ext cx="1195865" cy="1136926"/>
          </a:xfrm>
          <a:prstGeom prst="rect">
            <a:avLst/>
          </a:prstGeom>
        </p:spPr>
      </p:pic>
      <p:pic>
        <p:nvPicPr>
          <p:cNvPr id="37" name="Picture 36" descr="blue_icon_teaching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066" y="2113517"/>
            <a:ext cx="1020861" cy="1136926"/>
          </a:xfrm>
          <a:prstGeom prst="rect">
            <a:avLst/>
          </a:prstGeom>
        </p:spPr>
      </p:pic>
      <p:pic>
        <p:nvPicPr>
          <p:cNvPr id="38" name="Picture 37" descr="blue_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282" y="3993819"/>
            <a:ext cx="1079196" cy="1049470"/>
          </a:xfrm>
          <a:prstGeom prst="rect">
            <a:avLst/>
          </a:prstGeom>
        </p:spPr>
      </p:pic>
      <p:pic>
        <p:nvPicPr>
          <p:cNvPr id="39" name="Picture 38" descr="blue_icon_security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483" y="3950091"/>
            <a:ext cx="1035444" cy="1151502"/>
          </a:xfrm>
          <a:prstGeom prst="rect">
            <a:avLst/>
          </a:prstGeom>
        </p:spPr>
      </p:pic>
      <p:pic>
        <p:nvPicPr>
          <p:cNvPr id="40" name="Picture 39" descr="blue_bottom_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741" y="5750225"/>
            <a:ext cx="350009" cy="349823"/>
          </a:xfrm>
          <a:prstGeom prst="rect">
            <a:avLst/>
          </a:prstGeom>
        </p:spPr>
      </p:pic>
      <p:pic>
        <p:nvPicPr>
          <p:cNvPr id="41" name="Picture 40" descr="blue_bottom_gr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7406" y="5750225"/>
            <a:ext cx="350009" cy="349823"/>
          </a:xfrm>
          <a:prstGeom prst="rect">
            <a:avLst/>
          </a:prstGeom>
        </p:spPr>
      </p:pic>
      <p:pic>
        <p:nvPicPr>
          <p:cNvPr id="42" name="Picture 41" descr="blue_bottom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9569" y="5750225"/>
            <a:ext cx="350009" cy="34982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02099" y="451853"/>
            <a:ext cx="4739713" cy="6267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0B348F"/>
                </a:solidFill>
                <a:latin typeface="Microsoft YaHei"/>
              </a:rPr>
              <a:t>智慧校园核心模块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693" y="1348275"/>
            <a:ext cx="5541812" cy="3206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7285A"/>
                </a:solidFill>
                <a:latin typeface="Microsoft YaHei"/>
              </a:rPr>
              <a:t>围绕教学、管理与服务构建数字化校园体系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438" y="1945895"/>
            <a:ext cx="364589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8414" y="2084365"/>
            <a:ext cx="1348995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73AA3"/>
                </a:solidFill>
                <a:latin typeface="Microsoft YaHei"/>
              </a:rPr>
              <a:t>数据平台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91757" y="2536218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统一数据汇聚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91757" y="2842318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实时分析看板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1757" y="3148411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多端协同共享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0143" y="1945895"/>
            <a:ext cx="364589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2067" y="2084365"/>
            <a:ext cx="1348995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73AA3"/>
                </a:solidFill>
                <a:latin typeface="Microsoft YaHei"/>
              </a:rPr>
              <a:t>智慧教学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55410" y="2536218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课堂互动提升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5410" y="2842318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学习路径推荐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5410" y="3148411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教学质量反馈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0438" y="3804331"/>
            <a:ext cx="364589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8414" y="3942801"/>
            <a:ext cx="1348995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73AA3"/>
                </a:solidFill>
                <a:latin typeface="Microsoft YaHei"/>
              </a:rPr>
              <a:t>校园服务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91757" y="4394661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智能问答助手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1757" y="4700754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业务流程优化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91757" y="5006847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线上办事支持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0143" y="3804331"/>
            <a:ext cx="364589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22067" y="3942801"/>
            <a:ext cx="1348995" cy="3060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73AA3"/>
                </a:solidFill>
                <a:latin typeface="Microsoft YaHei"/>
              </a:rPr>
              <a:t>安全管理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55410" y="4394661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风险预警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55410" y="4700754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设备联动监测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55410" y="5006847"/>
            <a:ext cx="1348995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5285D"/>
                </a:solidFill>
                <a:latin typeface="Microsoft YaHei"/>
              </a:rPr>
              <a:t>应急响应跟踪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95880" y="5721073"/>
            <a:ext cx="1020860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73AA3"/>
                </a:solidFill>
                <a:latin typeface="Microsoft YaHei"/>
              </a:rPr>
              <a:t>基础建设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95880" y="5976150"/>
            <a:ext cx="116670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5285D"/>
                </a:solidFill>
                <a:latin typeface="Microsoft YaHei"/>
              </a:rPr>
              <a:t>夯实数字底座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85553" y="5721073"/>
            <a:ext cx="1020860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73AA3"/>
                </a:solidFill>
                <a:latin typeface="Microsoft YaHei"/>
              </a:rPr>
              <a:t>场景应用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85553" y="5976150"/>
            <a:ext cx="116670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5285D"/>
                </a:solidFill>
                <a:latin typeface="Microsoft YaHei"/>
              </a:rPr>
              <a:t>赋能教学与管理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87712" y="5721073"/>
            <a:ext cx="1020860" cy="204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73AA3"/>
                </a:solidFill>
                <a:latin typeface="Microsoft YaHei"/>
              </a:rPr>
              <a:t>持续优化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87712" y="5976150"/>
            <a:ext cx="1166701" cy="18948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5285D"/>
                </a:solidFill>
                <a:latin typeface="Microsoft YaHei"/>
              </a:rPr>
              <a:t>数据驱动改进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81342" y="5779380"/>
            <a:ext cx="350007" cy="2477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 i="0">
                <a:solidFill>
                  <a:srgbClr val="1267E6"/>
                </a:solidFill>
                <a:latin typeface="Microsoft YaHei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71003" y="5779380"/>
            <a:ext cx="350007" cy="2477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 i="0">
                <a:solidFill>
                  <a:srgbClr val="1267E6"/>
                </a:solidFill>
                <a:latin typeface="Microsoft YaHei"/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