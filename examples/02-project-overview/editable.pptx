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2_b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19808" y="2230125"/>
            <a:ext cx="2625071" cy="14575"/>
          </a:xfrm>
          <a:prstGeom prst="rect">
            <a:avLst/>
          </a:prstGeom>
          <a:solidFill>
            <a:srgbClr val="5C9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201129" y="2208261"/>
            <a:ext cx="58334" cy="58303"/>
          </a:xfrm>
          <a:prstGeom prst="ellipse">
            <a:avLst/>
          </a:prstGeom>
          <a:solidFill>
            <a:srgbClr val="4C95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4593" y="3410780"/>
            <a:ext cx="2129224" cy="14575"/>
          </a:xfrm>
          <a:prstGeom prst="rect">
            <a:avLst/>
          </a:prstGeom>
          <a:solidFill>
            <a:srgbClr val="8DB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937607" y="1741829"/>
            <a:ext cx="1750047" cy="419788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EB1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068861" y="1741829"/>
            <a:ext cx="422928" cy="393551"/>
          </a:xfrm>
          <a:prstGeom prst="roundRect">
            <a:avLst/>
          </a:prstGeom>
          <a:solidFill>
            <a:srgbClr val="6CA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331368" y="2157245"/>
            <a:ext cx="962526" cy="962014"/>
          </a:xfrm>
          <a:prstGeom prst="ellipse">
            <a:avLst/>
          </a:prstGeom>
          <a:solidFill>
            <a:srgbClr val="DBEAD3"/>
          </a:solidFill>
          <a:ln w="12700">
            <a:solidFill>
              <a:srgbClr val="B8D0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433454" y="2251989"/>
            <a:ext cx="758354" cy="757951"/>
          </a:xfrm>
          <a:prstGeom prst="ellipse">
            <a:avLst/>
          </a:prstGeom>
          <a:solidFill>
            <a:srgbClr val="5D9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00114" y="3775179"/>
            <a:ext cx="1239617" cy="14575"/>
          </a:xfrm>
          <a:prstGeom prst="rect">
            <a:avLst/>
          </a:prstGeom>
          <a:solidFill>
            <a:srgbClr val="5D9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798047" y="3760603"/>
            <a:ext cx="58334" cy="58303"/>
          </a:xfrm>
          <a:prstGeom prst="ellipse">
            <a:avLst/>
          </a:prstGeom>
          <a:solidFill>
            <a:srgbClr val="4C95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937607" y="5356673"/>
            <a:ext cx="1750047" cy="583039"/>
          </a:xfrm>
          <a:prstGeom prst="rect">
            <a:avLst/>
          </a:prstGeom>
          <a:solidFill>
            <a:srgbClr val="DDE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220975" y="3068244"/>
            <a:ext cx="1239617" cy="14575"/>
          </a:xfrm>
          <a:prstGeom prst="rect">
            <a:avLst/>
          </a:prstGeom>
          <a:solidFill>
            <a:srgbClr val="79B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702239" y="2929772"/>
            <a:ext cx="291674" cy="291519"/>
          </a:xfrm>
          <a:prstGeom prst="ellipse">
            <a:avLst/>
          </a:prstGeom>
          <a:solidFill>
            <a:srgbClr val="58A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964746" y="1741829"/>
            <a:ext cx="1750047" cy="419788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EB1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095999" y="1741829"/>
            <a:ext cx="422928" cy="393551"/>
          </a:xfrm>
          <a:prstGeom prst="roundRect">
            <a:avLst/>
          </a:prstGeom>
          <a:solidFill>
            <a:srgbClr val="6CA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58507" y="2157245"/>
            <a:ext cx="962526" cy="962014"/>
          </a:xfrm>
          <a:prstGeom prst="ellipse">
            <a:avLst/>
          </a:prstGeom>
          <a:solidFill>
            <a:srgbClr val="DBEAD3"/>
          </a:solidFill>
          <a:ln w="12700">
            <a:solidFill>
              <a:srgbClr val="B8D0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60593" y="2251989"/>
            <a:ext cx="758354" cy="757951"/>
          </a:xfrm>
          <a:prstGeom prst="ellipse">
            <a:avLst/>
          </a:prstGeom>
          <a:solidFill>
            <a:srgbClr val="5D9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27253" y="3775179"/>
            <a:ext cx="1239617" cy="14575"/>
          </a:xfrm>
          <a:prstGeom prst="rect">
            <a:avLst/>
          </a:prstGeom>
          <a:solidFill>
            <a:srgbClr val="5D9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825186" y="3760603"/>
            <a:ext cx="58334" cy="58303"/>
          </a:xfrm>
          <a:prstGeom prst="ellipse">
            <a:avLst/>
          </a:prstGeom>
          <a:solidFill>
            <a:srgbClr val="4C95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964746" y="5356673"/>
            <a:ext cx="1750047" cy="583039"/>
          </a:xfrm>
          <a:prstGeom prst="rect">
            <a:avLst/>
          </a:prstGeom>
          <a:solidFill>
            <a:srgbClr val="DDE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248114" y="3068244"/>
            <a:ext cx="1239617" cy="14575"/>
          </a:xfrm>
          <a:prstGeom prst="rect">
            <a:avLst/>
          </a:prstGeom>
          <a:solidFill>
            <a:srgbClr val="79B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729377" y="2929772"/>
            <a:ext cx="291674" cy="291519"/>
          </a:xfrm>
          <a:prstGeom prst="ellipse">
            <a:avLst/>
          </a:prstGeom>
          <a:solidFill>
            <a:srgbClr val="58A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991884" y="1741829"/>
            <a:ext cx="1750047" cy="419788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EB1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123138" y="1741829"/>
            <a:ext cx="422928" cy="393551"/>
          </a:xfrm>
          <a:prstGeom prst="roundRect">
            <a:avLst/>
          </a:prstGeom>
          <a:solidFill>
            <a:srgbClr val="6CA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385645" y="2157245"/>
            <a:ext cx="962526" cy="962014"/>
          </a:xfrm>
          <a:prstGeom prst="ellipse">
            <a:avLst/>
          </a:prstGeom>
          <a:solidFill>
            <a:srgbClr val="DBEAD3"/>
          </a:solidFill>
          <a:ln w="12700">
            <a:solidFill>
              <a:srgbClr val="B8D0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487731" y="2251989"/>
            <a:ext cx="758354" cy="757951"/>
          </a:xfrm>
          <a:prstGeom prst="ellipse">
            <a:avLst/>
          </a:prstGeom>
          <a:solidFill>
            <a:srgbClr val="5D9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54392" y="3775179"/>
            <a:ext cx="1239617" cy="14575"/>
          </a:xfrm>
          <a:prstGeom prst="rect">
            <a:avLst/>
          </a:prstGeom>
          <a:solidFill>
            <a:srgbClr val="5D9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852325" y="3760603"/>
            <a:ext cx="58334" cy="58303"/>
          </a:xfrm>
          <a:prstGeom prst="ellipse">
            <a:avLst/>
          </a:prstGeom>
          <a:solidFill>
            <a:srgbClr val="4C95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991884" y="5356673"/>
            <a:ext cx="1750047" cy="583039"/>
          </a:xfrm>
          <a:prstGeom prst="rect">
            <a:avLst/>
          </a:prstGeom>
          <a:solidFill>
            <a:srgbClr val="DDE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275253" y="3068244"/>
            <a:ext cx="1239617" cy="14575"/>
          </a:xfrm>
          <a:prstGeom prst="rect">
            <a:avLst/>
          </a:prstGeom>
          <a:solidFill>
            <a:srgbClr val="79B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756516" y="2929772"/>
            <a:ext cx="291674" cy="291519"/>
          </a:xfrm>
          <a:prstGeom prst="ellipse">
            <a:avLst/>
          </a:prstGeom>
          <a:solidFill>
            <a:srgbClr val="58A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0019023" y="1741829"/>
            <a:ext cx="1750047" cy="419788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EB1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10150277" y="1741829"/>
            <a:ext cx="422928" cy="393551"/>
          </a:xfrm>
          <a:prstGeom prst="roundRect">
            <a:avLst/>
          </a:prstGeom>
          <a:solidFill>
            <a:srgbClr val="6CA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412784" y="2157245"/>
            <a:ext cx="962526" cy="962014"/>
          </a:xfrm>
          <a:prstGeom prst="ellipse">
            <a:avLst/>
          </a:prstGeom>
          <a:solidFill>
            <a:srgbClr val="DBEAD3"/>
          </a:solidFill>
          <a:ln w="12700">
            <a:solidFill>
              <a:srgbClr val="B8D0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514870" y="2251989"/>
            <a:ext cx="758354" cy="757951"/>
          </a:xfrm>
          <a:prstGeom prst="ellipse">
            <a:avLst/>
          </a:prstGeom>
          <a:solidFill>
            <a:srgbClr val="5D9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281530" y="3775179"/>
            <a:ext cx="1239617" cy="14575"/>
          </a:xfrm>
          <a:prstGeom prst="rect">
            <a:avLst/>
          </a:prstGeom>
          <a:solidFill>
            <a:srgbClr val="5D9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879463" y="3760603"/>
            <a:ext cx="58334" cy="58303"/>
          </a:xfrm>
          <a:prstGeom prst="ellipse">
            <a:avLst/>
          </a:prstGeom>
          <a:solidFill>
            <a:srgbClr val="4C95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0019023" y="5356673"/>
            <a:ext cx="1750047" cy="583039"/>
          </a:xfrm>
          <a:prstGeom prst="rect">
            <a:avLst/>
          </a:prstGeom>
          <a:solidFill>
            <a:srgbClr val="DDE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green_icon_course_boo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1368" y="2142669"/>
            <a:ext cx="962526" cy="962014"/>
          </a:xfrm>
          <a:prstGeom prst="rect">
            <a:avLst/>
          </a:prstGeom>
        </p:spPr>
      </p:pic>
      <p:pic>
        <p:nvPicPr>
          <p:cNvPr id="41" name="Picture 40" descr="green_small_pers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14698" y="4256187"/>
            <a:ext cx="466679" cy="466431"/>
          </a:xfrm>
          <a:prstGeom prst="rect">
            <a:avLst/>
          </a:prstGeom>
        </p:spPr>
      </p:pic>
      <p:pic>
        <p:nvPicPr>
          <p:cNvPr id="42" name="Picture 41" descr="green_small_book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14698" y="4751770"/>
            <a:ext cx="466679" cy="466431"/>
          </a:xfrm>
          <a:prstGeom prst="rect">
            <a:avLst/>
          </a:prstGeom>
        </p:spPr>
      </p:pic>
      <p:pic>
        <p:nvPicPr>
          <p:cNvPr id="43" name="Picture 42" descr="green_decor_plan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00133" y="5232777"/>
            <a:ext cx="656267" cy="568463"/>
          </a:xfrm>
          <a:prstGeom prst="rect">
            <a:avLst/>
          </a:prstGeom>
        </p:spPr>
      </p:pic>
      <p:pic>
        <p:nvPicPr>
          <p:cNvPr id="44" name="Picture 43" descr="green_icon_practice_tool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58507" y="2142669"/>
            <a:ext cx="962526" cy="962014"/>
          </a:xfrm>
          <a:prstGeom prst="rect">
            <a:avLst/>
          </a:prstGeom>
        </p:spPr>
      </p:pic>
      <p:pic>
        <p:nvPicPr>
          <p:cNvPr id="45" name="Picture 44" descr="green_small_grou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41837" y="4256187"/>
            <a:ext cx="466679" cy="466431"/>
          </a:xfrm>
          <a:prstGeom prst="rect">
            <a:avLst/>
          </a:prstGeom>
        </p:spPr>
      </p:pic>
      <p:pic>
        <p:nvPicPr>
          <p:cNvPr id="46" name="Picture 45" descr="green_small_clipboar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41837" y="4751770"/>
            <a:ext cx="466679" cy="466431"/>
          </a:xfrm>
          <a:prstGeom prst="rect">
            <a:avLst/>
          </a:prstGeom>
        </p:spPr>
      </p:pic>
      <p:pic>
        <p:nvPicPr>
          <p:cNvPr id="47" name="Picture 46" descr="green_decor_gear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12688" y="5232777"/>
            <a:ext cx="656267" cy="568463"/>
          </a:xfrm>
          <a:prstGeom prst="rect">
            <a:avLst/>
          </a:prstGeom>
        </p:spPr>
      </p:pic>
      <p:pic>
        <p:nvPicPr>
          <p:cNvPr id="48" name="Picture 47" descr="green_icon_presentation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85645" y="2142669"/>
            <a:ext cx="962526" cy="962014"/>
          </a:xfrm>
          <a:prstGeom prst="rect">
            <a:avLst/>
          </a:prstGeom>
        </p:spPr>
      </p:pic>
      <p:pic>
        <p:nvPicPr>
          <p:cNvPr id="49" name="Picture 48" descr="green_small_folder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268975" y="4256187"/>
            <a:ext cx="466679" cy="466431"/>
          </a:xfrm>
          <a:prstGeom prst="rect">
            <a:avLst/>
          </a:prstGeom>
        </p:spPr>
      </p:pic>
      <p:pic>
        <p:nvPicPr>
          <p:cNvPr id="50" name="Picture 49" descr="green_small_chat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268975" y="4751770"/>
            <a:ext cx="466679" cy="466431"/>
          </a:xfrm>
          <a:prstGeom prst="rect">
            <a:avLst/>
          </a:prstGeom>
        </p:spPr>
      </p:pic>
      <p:pic>
        <p:nvPicPr>
          <p:cNvPr id="51" name="Picture 50" descr="green_decor_document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998162" y="5232777"/>
            <a:ext cx="554181" cy="626767"/>
          </a:xfrm>
          <a:prstGeom prst="rect">
            <a:avLst/>
          </a:prstGeom>
        </p:spPr>
      </p:pic>
      <p:pic>
        <p:nvPicPr>
          <p:cNvPr id="52" name="Picture 51" descr="green_icon_growth_person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412784" y="2142669"/>
            <a:ext cx="962526" cy="962014"/>
          </a:xfrm>
          <a:prstGeom prst="rect">
            <a:avLst/>
          </a:prstGeom>
        </p:spPr>
      </p:pic>
      <p:pic>
        <p:nvPicPr>
          <p:cNvPr id="53" name="Picture 52" descr="green_small_peers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296114" y="4256187"/>
            <a:ext cx="466679" cy="466431"/>
          </a:xfrm>
          <a:prstGeom prst="rect">
            <a:avLst/>
          </a:prstGeom>
        </p:spPr>
      </p:pic>
      <p:pic>
        <p:nvPicPr>
          <p:cNvPr id="54" name="Picture 53" descr="green_small_leaf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296114" y="4751770"/>
            <a:ext cx="466679" cy="466431"/>
          </a:xfrm>
          <a:prstGeom prst="rect">
            <a:avLst/>
          </a:prstGeom>
        </p:spPr>
      </p:pic>
      <p:pic>
        <p:nvPicPr>
          <p:cNvPr id="55" name="Picture 54" descr="green_decor_chart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879463" y="5159897"/>
            <a:ext cx="714602" cy="670495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350007" y="1443019"/>
            <a:ext cx="2989661" cy="5101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163F18"/>
                </a:solidFill>
                <a:latin typeface="SimSun"/>
              </a:rPr>
              <a:t>项目内容概览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79171" y="2587235"/>
            <a:ext cx="2697991" cy="6559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224A25"/>
                </a:solidFill>
                <a:latin typeface="SimSun"/>
              </a:rPr>
              <a:t>系统学习、实践体验、
成果展示、评价成长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79171" y="3643998"/>
            <a:ext cx="2479230" cy="5830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224A25"/>
                </a:solidFill>
                <a:latin typeface="SimSun"/>
              </a:rPr>
              <a:t>形成从输入到输出的
完整学习闭环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134489" y="1821999"/>
            <a:ext cx="277087" cy="17491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Microsoft YaHei"/>
              </a:rPr>
              <a:t>01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185525" y="3367051"/>
            <a:ext cx="1254203" cy="30609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153F17"/>
                </a:solidFill>
                <a:latin typeface="SimSun"/>
              </a:rPr>
              <a:t>课程学习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156362" y="3935518"/>
            <a:ext cx="1312541" cy="2186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23311F"/>
                </a:solidFill>
                <a:latin typeface="SimSun"/>
              </a:rPr>
              <a:t>基础知识与案例讲解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695955" y="4372797"/>
            <a:ext cx="729191" cy="18948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23311F"/>
                </a:solidFill>
                <a:latin typeface="SimSun"/>
              </a:rPr>
              <a:t>主题导入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695955" y="4868377"/>
            <a:ext cx="729191" cy="18948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23311F"/>
                </a:solidFill>
                <a:latin typeface="SimSun"/>
              </a:rPr>
              <a:t>知识建构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775155" y="2966215"/>
            <a:ext cx="145840" cy="1821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Microsoft YaHei"/>
              </a:rPr>
              <a:t>›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161629" y="1821999"/>
            <a:ext cx="277087" cy="17491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Microsoft YaHei"/>
              </a:rPr>
              <a:t>02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212665" y="3367051"/>
            <a:ext cx="1254203" cy="30609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153F17"/>
                </a:solidFill>
                <a:latin typeface="SimSun"/>
              </a:rPr>
              <a:t>实践体验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183501" y="3935518"/>
            <a:ext cx="1312541" cy="2186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23311F"/>
                </a:solidFill>
                <a:latin typeface="SimSun"/>
              </a:rPr>
              <a:t>任务驱动与操作训练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723095" y="4372797"/>
            <a:ext cx="729191" cy="18948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23311F"/>
                </a:solidFill>
                <a:latin typeface="SimSun"/>
              </a:rPr>
              <a:t>分组协作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723095" y="4868377"/>
            <a:ext cx="729191" cy="18948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23311F"/>
                </a:solidFill>
                <a:latin typeface="SimSun"/>
              </a:rPr>
              <a:t>过程记录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802294" y="2966215"/>
            <a:ext cx="145840" cy="1821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Microsoft YaHei"/>
              </a:rPr>
              <a:t>›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188768" y="1821999"/>
            <a:ext cx="277087" cy="17491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Microsoft YaHei"/>
              </a:rPr>
              <a:t>03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239804" y="3367051"/>
            <a:ext cx="1254203" cy="30609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153F17"/>
                </a:solidFill>
                <a:latin typeface="SimSun"/>
              </a:rPr>
              <a:t>成果展示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210641" y="3935518"/>
            <a:ext cx="1312541" cy="2186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23311F"/>
                </a:solidFill>
                <a:latin typeface="SimSun"/>
              </a:rPr>
              <a:t>作品汇报与过程记录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750234" y="4372797"/>
            <a:ext cx="729191" cy="18948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23311F"/>
                </a:solidFill>
                <a:latin typeface="SimSun"/>
              </a:rPr>
              <a:t>成果整理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750234" y="4868377"/>
            <a:ext cx="729191" cy="18948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23311F"/>
                </a:solidFill>
                <a:latin typeface="SimSun"/>
              </a:rPr>
              <a:t>展示表达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829433" y="2966215"/>
            <a:ext cx="145840" cy="1821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Microsoft YaHei"/>
              </a:rPr>
              <a:t>›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215908" y="1821999"/>
            <a:ext cx="277087" cy="17491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Microsoft YaHei"/>
              </a:rPr>
              <a:t>04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266943" y="3367051"/>
            <a:ext cx="1254203" cy="30609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153F17"/>
                </a:solidFill>
                <a:latin typeface="SimSun"/>
              </a:rPr>
              <a:t>成长评价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237780" y="3935518"/>
            <a:ext cx="1312541" cy="2186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23311F"/>
                </a:solidFill>
                <a:latin typeface="SimSun"/>
              </a:rPr>
              <a:t>多维反馈与能力提升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777374" y="4372797"/>
            <a:ext cx="729191" cy="18948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23311F"/>
                </a:solidFill>
                <a:latin typeface="SimSun"/>
              </a:rPr>
              <a:t>同伴互评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777374" y="4868377"/>
            <a:ext cx="729191" cy="18948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23311F"/>
                </a:solidFill>
                <a:latin typeface="SimSun"/>
              </a:rPr>
              <a:t>反思改进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